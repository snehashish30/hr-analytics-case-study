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1" r:id="rId5"/>
    <p:sldId id="266" r:id="rId6"/>
    <p:sldId id="281" r:id="rId7"/>
    <p:sldId id="280" r:id="rId8"/>
    <p:sldId id="282" r:id="rId9"/>
    <p:sldId id="283" r:id="rId10"/>
    <p:sldId id="284" r:id="rId11"/>
    <p:sldId id="285" r:id="rId12"/>
    <p:sldId id="286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khar Agrawal" initials="PA" lastIdx="5" clrIdx="0">
    <p:extLst>
      <p:ext uri="{19B8F6BF-5375-455C-9EA6-DF929625EA0E}">
        <p15:presenceInfo xmlns:p15="http://schemas.microsoft.com/office/powerpoint/2012/main" userId="Prakhar Agraw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" Type="http://schemas.openxmlformats.org/officeDocument/2006/relationships/tags" Target="../tags/tag3.xml"/><Relationship Id="rId16" Type="http://schemas.openxmlformats.org/officeDocument/2006/relationships/image" Target="../media/image9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emf"/><Relationship Id="rId11" Type="http://schemas.microsoft.com/office/2007/relationships/hdphoto" Target="../media/hdphoto3.wdp"/><Relationship Id="rId5" Type="http://schemas.openxmlformats.org/officeDocument/2006/relationships/oleObject" Target="../embeddings/oleObject3.bin"/><Relationship Id="rId1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slideMaster" Target="../slideMasters/slideMaster2.xml"/><Relationship Id="rId9" Type="http://schemas.microsoft.com/office/2007/relationships/hdphoto" Target="../media/hdphoto2.wdp"/><Relationship Id="rId1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3" Type="http://schemas.openxmlformats.org/officeDocument/2006/relationships/tags" Target="../tags/tag6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" Type="http://schemas.openxmlformats.org/officeDocument/2006/relationships/tags" Target="../tags/tag5.xml"/><Relationship Id="rId16" Type="http://schemas.openxmlformats.org/officeDocument/2006/relationships/image" Target="../media/image9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11" Type="http://schemas.microsoft.com/office/2007/relationships/hdphoto" Target="../media/hdphoto4.wdp"/><Relationship Id="rId5" Type="http://schemas.openxmlformats.org/officeDocument/2006/relationships/oleObject" Target="../embeddings/oleObject5.bin"/><Relationship Id="rId1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slideMaster" Target="../slideMasters/slideMaster2.xml"/><Relationship Id="rId9" Type="http://schemas.microsoft.com/office/2007/relationships/hdphoto" Target="../media/hdphoto2.wdp"/><Relationship Id="rId1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8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9.png"/><Relationship Id="rId17" Type="http://schemas.microsoft.com/office/2007/relationships/hdphoto" Target="../media/hdphoto6.wdp"/><Relationship Id="rId2" Type="http://schemas.openxmlformats.org/officeDocument/2006/relationships/tags" Target="../tags/tag7.xml"/><Relationship Id="rId16" Type="http://schemas.openxmlformats.org/officeDocument/2006/relationships/image" Target="../media/image12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11" Type="http://schemas.openxmlformats.org/officeDocument/2006/relationships/image" Target="../media/image8.png"/><Relationship Id="rId5" Type="http://schemas.openxmlformats.org/officeDocument/2006/relationships/oleObject" Target="../embeddings/oleObject7.bin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10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9.png"/><Relationship Id="rId17" Type="http://schemas.microsoft.com/office/2007/relationships/hdphoto" Target="../media/hdphoto8.wdp"/><Relationship Id="rId2" Type="http://schemas.openxmlformats.org/officeDocument/2006/relationships/tags" Target="../tags/tag9.xml"/><Relationship Id="rId16" Type="http://schemas.openxmlformats.org/officeDocument/2006/relationships/image" Target="../media/image13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11" Type="http://schemas.openxmlformats.org/officeDocument/2006/relationships/image" Target="../media/image8.png"/><Relationship Id="rId5" Type="http://schemas.openxmlformats.org/officeDocument/2006/relationships/oleObject" Target="../embeddings/oleObject9.bin"/><Relationship Id="rId15" Type="http://schemas.microsoft.com/office/2007/relationships/hdphoto" Target="../media/hdphoto7.wdp"/><Relationship Id="rId10" Type="http://schemas.openxmlformats.org/officeDocument/2006/relationships/image" Target="../media/image7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2.xml"/><Relationship Id="rId7" Type="http://schemas.openxmlformats.org/officeDocument/2006/relationships/oleObject" Target="../embeddings/oleObject12.bin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11" Type="http://schemas.microsoft.com/office/2007/relationships/hdphoto" Target="../media/hdphoto9.wdp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4.png"/><Relationship Id="rId4" Type="http://schemas.openxmlformats.org/officeDocument/2006/relationships/slideMaster" Target="../slideMasters/slideMaster2.xml"/><Relationship Id="rId9" Type="http://schemas.microsoft.com/office/2007/relationships/hdphoto" Target="../media/hdphoto2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4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11" Type="http://schemas.microsoft.com/office/2007/relationships/hdphoto" Target="../media/hdphoto10.wdp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2.png"/><Relationship Id="rId4" Type="http://schemas.openxmlformats.org/officeDocument/2006/relationships/slideMaster" Target="../slideMasters/slideMaster2.xml"/><Relationship Id="rId9" Type="http://schemas.microsoft.com/office/2007/relationships/hdphoto" Target="../media/hdphoto4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6.xml"/><Relationship Id="rId7" Type="http://schemas.openxmlformats.org/officeDocument/2006/relationships/oleObject" Target="../embeddings/oleObject16.bin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11" Type="http://schemas.microsoft.com/office/2007/relationships/hdphoto" Target="../media/hdphoto11.wdp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3.png"/><Relationship Id="rId4" Type="http://schemas.openxmlformats.org/officeDocument/2006/relationships/slideMaster" Target="../slideMasters/slideMaster2.xml"/><Relationship Id="rId9" Type="http://schemas.microsoft.com/office/2007/relationships/hdphoto" Target="../media/hdphoto4.wdp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6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9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64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46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1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22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98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200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06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5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691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0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k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01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2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hteck 1"/>
          <p:cNvSpPr/>
          <p:nvPr userDrawn="1"/>
        </p:nvSpPr>
        <p:spPr>
          <a:xfrm>
            <a:off x="443372" y="332656"/>
            <a:ext cx="11406704" cy="5616624"/>
          </a:xfrm>
          <a:prstGeom prst="rect">
            <a:avLst/>
          </a:prstGeom>
          <a:solidFill>
            <a:srgbClr val="0C1525"/>
          </a:solidFill>
          <a:ln>
            <a:solidFill>
              <a:srgbClr val="0C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pic>
        <p:nvPicPr>
          <p:cNvPr id="101" name="Picture 100" descr="Macintosh HD:Users:UEducation:Desktop:Screen Shot 2015-06-29 at 12.21.28 pm.png"/>
          <p:cNvPicPr/>
          <p:nvPr userDrawn="1"/>
        </p:nvPicPr>
        <p:blipFill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53" b="96966" l="595" r="9732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3052" y="1731634"/>
            <a:ext cx="3170981" cy="24894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pic>
        <p:nvPicPr>
          <p:cNvPr id="102" name="Picture 101" descr="Screen Shot 2015-06-29 at 11.14.38 pm.png"/>
          <p:cNvPicPr>
            <a:picLocks noChangeAspect="1"/>
          </p:cNvPicPr>
          <p:nvPr userDrawn="1"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731" r="100000">
                        <a14:foregroundMark x1="61550" y1="50273" x2="61550" y2="50273"/>
                        <a14:foregroundMark x1="71491" y1="66667" x2="71491" y2="66667"/>
                        <a14:foregroundMark x1="86842" y1="67213" x2="86842" y2="67213"/>
                        <a14:foregroundMark x1="29678" y1="67760" x2="29678" y2="67760"/>
                        <a14:foregroundMark x1="14912" y1="66120" x2="14912" y2="66120"/>
                        <a14:backgroundMark x1="8626" y1="36066" x2="8626" y2="36066"/>
                        <a14:backgroundMark x1="25877" y1="15301" x2="25877" y2="15301"/>
                        <a14:backgroundMark x1="45760" y1="28962" x2="45760" y2="28962"/>
                        <a14:backgroundMark x1="54386" y1="36066" x2="54386" y2="36066"/>
                        <a14:backgroundMark x1="48246" y1="42623" x2="48246" y2="42623"/>
                        <a14:backgroundMark x1="90497" y1="55738" x2="90497" y2="55738"/>
                        <a14:backgroundMark x1="75731" y1="63934" x2="75731" y2="63934"/>
                        <a14:backgroundMark x1="26023" y1="49180" x2="26023" y2="49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579" y="1276380"/>
            <a:ext cx="1890501" cy="505793"/>
          </a:xfrm>
          <a:prstGeom prst="rect">
            <a:avLst/>
          </a:prstGeom>
        </p:spPr>
      </p:pic>
      <p:sp>
        <p:nvSpPr>
          <p:cNvPr id="103" name="TextBox 102"/>
          <p:cNvSpPr txBox="1"/>
          <p:nvPr userDrawn="1"/>
        </p:nvSpPr>
        <p:spPr>
          <a:xfrm>
            <a:off x="767408" y="4419578"/>
            <a:ext cx="4104456" cy="1241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4" name="Bild 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105" name="Bild 5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106" name="Bild 8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107" name="Bild 9"/>
          <p:cNvPicPr>
            <a:picLocks noChangeAspect="1"/>
          </p:cNvPicPr>
          <p:nvPr userDrawn="1"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108" name="Bild 14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539" y="3497771"/>
            <a:ext cx="2614787" cy="2440468"/>
          </a:xfrm>
          <a:prstGeom prst="rect">
            <a:avLst/>
          </a:prstGeom>
        </p:spPr>
      </p:pic>
      <p:pic>
        <p:nvPicPr>
          <p:cNvPr id="109" name="Bild 17"/>
          <p:cNvPicPr>
            <a:picLocks noChangeAspect="1"/>
          </p:cNvPicPr>
          <p:nvPr userDrawn="1"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cxnSp>
        <p:nvCxnSpPr>
          <p:cNvPr id="111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Bild 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115" name="Bild 5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116" name="Bild 8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117" name="Bild 9"/>
          <p:cNvPicPr>
            <a:picLocks noChangeAspect="1"/>
          </p:cNvPicPr>
          <p:nvPr userDrawn="1"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118" name="Bild 14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3" y="3497771"/>
            <a:ext cx="2634574" cy="2440468"/>
          </a:xfrm>
          <a:prstGeom prst="rect">
            <a:avLst/>
          </a:prstGeom>
        </p:spPr>
      </p:pic>
      <p:pic>
        <p:nvPicPr>
          <p:cNvPr id="119" name="Bild 17"/>
          <p:cNvPicPr>
            <a:picLocks noChangeAspect="1"/>
          </p:cNvPicPr>
          <p:nvPr userDrawn="1"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cxnSp>
        <p:nvCxnSpPr>
          <p:cNvPr id="121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39"/>
          <p:cNvCxnSpPr/>
          <p:nvPr userDrawn="1"/>
        </p:nvCxnSpPr>
        <p:spPr>
          <a:xfrm flipH="1">
            <a:off x="5943788" y="3500898"/>
            <a:ext cx="2929538" cy="0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40"/>
          <p:cNvCxnSpPr/>
          <p:nvPr userDrawn="1"/>
        </p:nvCxnSpPr>
        <p:spPr>
          <a:xfrm flipH="1">
            <a:off x="5951984" y="1821308"/>
            <a:ext cx="2929538" cy="0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hteck 31"/>
          <p:cNvSpPr/>
          <p:nvPr userDrawn="1"/>
        </p:nvSpPr>
        <p:spPr>
          <a:xfrm>
            <a:off x="6258538" y="341688"/>
            <a:ext cx="5583649" cy="5599704"/>
          </a:xfrm>
          <a:prstGeom prst="rect">
            <a:avLst/>
          </a:prstGeom>
          <a:noFill/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62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k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5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2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hteck 1"/>
          <p:cNvSpPr/>
          <p:nvPr userDrawn="1"/>
        </p:nvSpPr>
        <p:spPr>
          <a:xfrm>
            <a:off x="443372" y="332656"/>
            <a:ext cx="11406704" cy="56166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pic>
        <p:nvPicPr>
          <p:cNvPr id="101" name="Picture 100" descr="Macintosh HD:Users:UEducation:Desktop:Screen Shot 2015-06-29 at 12.21.28 pm.png"/>
          <p:cNvPicPr/>
          <p:nvPr userDrawn="1"/>
        </p:nvPicPr>
        <p:blipFill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53" b="96966" l="595" r="9732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3052" y="1731634"/>
            <a:ext cx="3170981" cy="24894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pic>
        <p:nvPicPr>
          <p:cNvPr id="102" name="Picture 101" descr="Screen Shot 2015-06-29 at 11.14.38 pm.png"/>
          <p:cNvPicPr>
            <a:picLocks noChangeAspect="1"/>
          </p:cNvPicPr>
          <p:nvPr userDrawn="1"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731" r="100000">
                        <a14:foregroundMark x1="61550" y1="50273" x2="61550" y2="50273"/>
                        <a14:foregroundMark x1="71491" y1="66667" x2="71491" y2="66667"/>
                        <a14:foregroundMark x1="86842" y1="67213" x2="86842" y2="67213"/>
                        <a14:foregroundMark x1="29678" y1="67760" x2="29678" y2="67760"/>
                        <a14:foregroundMark x1="14912" y1="66120" x2="14912" y2="66120"/>
                        <a14:backgroundMark x1="8626" y1="36066" x2="8626" y2="36066"/>
                        <a14:backgroundMark x1="25877" y1="15301" x2="25877" y2="15301"/>
                        <a14:backgroundMark x1="45760" y1="28962" x2="45760" y2="28962"/>
                        <a14:backgroundMark x1="54386" y1="36066" x2="54386" y2="36066"/>
                        <a14:backgroundMark x1="48246" y1="42623" x2="48246" y2="42623"/>
                        <a14:backgroundMark x1="90497" y1="55738" x2="90497" y2="55738"/>
                        <a14:backgroundMark x1="75731" y1="63934" x2="75731" y2="63934"/>
                        <a14:backgroundMark x1="26023" y1="49180" x2="26023" y2="49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579" y="1276380"/>
            <a:ext cx="1890501" cy="505793"/>
          </a:xfrm>
          <a:prstGeom prst="rect">
            <a:avLst/>
          </a:prstGeom>
        </p:spPr>
      </p:pic>
      <p:sp>
        <p:nvSpPr>
          <p:cNvPr id="103" name="TextBox 102"/>
          <p:cNvSpPr txBox="1"/>
          <p:nvPr userDrawn="1"/>
        </p:nvSpPr>
        <p:spPr>
          <a:xfrm>
            <a:off x="767408" y="4419578"/>
            <a:ext cx="4104456" cy="1241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4" name="Bild 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105" name="Bild 5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106" name="Bild 8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107" name="Bild 9"/>
          <p:cNvPicPr>
            <a:picLocks noChangeAspect="1"/>
          </p:cNvPicPr>
          <p:nvPr userDrawn="1"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108" name="Bild 14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539" y="3497771"/>
            <a:ext cx="2614787" cy="2440468"/>
          </a:xfrm>
          <a:prstGeom prst="rect">
            <a:avLst/>
          </a:prstGeom>
        </p:spPr>
      </p:pic>
      <p:pic>
        <p:nvPicPr>
          <p:cNvPr id="109" name="Bild 17"/>
          <p:cNvPicPr>
            <a:picLocks noChangeAspect="1"/>
          </p:cNvPicPr>
          <p:nvPr userDrawn="1"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cxnSp>
        <p:nvCxnSpPr>
          <p:cNvPr id="111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Bild 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115" name="Bild 5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116" name="Bild 8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117" name="Bild 9"/>
          <p:cNvPicPr>
            <a:picLocks noChangeAspect="1"/>
          </p:cNvPicPr>
          <p:nvPr userDrawn="1"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118" name="Bild 14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3" y="3497771"/>
            <a:ext cx="2634574" cy="2440468"/>
          </a:xfrm>
          <a:prstGeom prst="rect">
            <a:avLst/>
          </a:prstGeom>
        </p:spPr>
      </p:pic>
      <p:pic>
        <p:nvPicPr>
          <p:cNvPr id="119" name="Bild 17"/>
          <p:cNvPicPr>
            <a:picLocks noChangeAspect="1"/>
          </p:cNvPicPr>
          <p:nvPr userDrawn="1"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cxnSp>
        <p:nvCxnSpPr>
          <p:cNvPr id="121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39"/>
          <p:cNvCxnSpPr/>
          <p:nvPr userDrawn="1"/>
        </p:nvCxnSpPr>
        <p:spPr>
          <a:xfrm flipH="1">
            <a:off x="5943788" y="3500898"/>
            <a:ext cx="2929538" cy="0"/>
          </a:xfrm>
          <a:prstGeom prst="line">
            <a:avLst/>
          </a:prstGeom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40"/>
          <p:cNvCxnSpPr/>
          <p:nvPr userDrawn="1"/>
        </p:nvCxnSpPr>
        <p:spPr>
          <a:xfrm flipH="1">
            <a:off x="5951984" y="1821308"/>
            <a:ext cx="2929538" cy="0"/>
          </a:xfrm>
          <a:prstGeom prst="line">
            <a:avLst/>
          </a:prstGeom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hteck 31"/>
          <p:cNvSpPr/>
          <p:nvPr userDrawn="1"/>
        </p:nvSpPr>
        <p:spPr>
          <a:xfrm>
            <a:off x="6258538" y="341688"/>
            <a:ext cx="5583649" cy="5599704"/>
          </a:xfrm>
          <a:prstGeom prst="rect">
            <a:avLst/>
          </a:prstGeom>
          <a:noFill/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67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4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k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49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2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hteck 1"/>
          <p:cNvSpPr/>
          <p:nvPr userDrawn="1"/>
        </p:nvSpPr>
        <p:spPr>
          <a:xfrm>
            <a:off x="443372" y="332656"/>
            <a:ext cx="11406704" cy="5616624"/>
          </a:xfrm>
          <a:prstGeom prst="rect">
            <a:avLst/>
          </a:prstGeom>
          <a:solidFill>
            <a:srgbClr val="1D3277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pic>
        <p:nvPicPr>
          <p:cNvPr id="78" name="Bild 4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79" name="Bild 5"/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80" name="Bild 8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81" name="Bild 9"/>
          <p:cNvPicPr>
            <a:picLocks noChangeAspect="1"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82" name="Bild 1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539" y="3497771"/>
            <a:ext cx="2614787" cy="2440468"/>
          </a:xfrm>
          <a:prstGeom prst="rect">
            <a:avLst/>
          </a:prstGeom>
        </p:spPr>
      </p:pic>
      <p:pic>
        <p:nvPicPr>
          <p:cNvPr id="83" name="Bild 17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sp>
        <p:nvSpPr>
          <p:cNvPr id="84" name="Rechteck 31"/>
          <p:cNvSpPr/>
          <p:nvPr userDrawn="1"/>
        </p:nvSpPr>
        <p:spPr>
          <a:xfrm>
            <a:off x="6258538" y="341688"/>
            <a:ext cx="5583649" cy="559970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cxnSp>
        <p:nvCxnSpPr>
          <p:cNvPr id="85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Bild 4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89" name="Bild 5"/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90" name="Bild 8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91" name="Bild 9"/>
          <p:cNvPicPr>
            <a:picLocks noChangeAspect="1"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92" name="Bild 1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3" y="3497771"/>
            <a:ext cx="2634574" cy="2440468"/>
          </a:xfrm>
          <a:prstGeom prst="rect">
            <a:avLst/>
          </a:prstGeom>
        </p:spPr>
      </p:pic>
      <p:pic>
        <p:nvPicPr>
          <p:cNvPr id="93" name="Bild 17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sp>
        <p:nvSpPr>
          <p:cNvPr id="94" name="Rechteck 31"/>
          <p:cNvSpPr/>
          <p:nvPr userDrawn="1"/>
        </p:nvSpPr>
        <p:spPr>
          <a:xfrm>
            <a:off x="6258538" y="341688"/>
            <a:ext cx="5583649" cy="5599704"/>
          </a:xfrm>
          <a:prstGeom prst="rect">
            <a:avLst/>
          </a:prstGeom>
          <a:noFill/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cxnSp>
        <p:nvCxnSpPr>
          <p:cNvPr id="95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39"/>
          <p:cNvCxnSpPr/>
          <p:nvPr userDrawn="1"/>
        </p:nvCxnSpPr>
        <p:spPr>
          <a:xfrm flipH="1">
            <a:off x="5943788" y="3500898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40"/>
          <p:cNvCxnSpPr/>
          <p:nvPr userDrawn="1"/>
        </p:nvCxnSpPr>
        <p:spPr>
          <a:xfrm flipH="1">
            <a:off x="5951984" y="1821308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 descr="Screen Shot 2015-06-29 at 11.14.38 pm.png"/>
          <p:cNvPicPr>
            <a:picLocks noChangeAspect="1"/>
          </p:cNvPicPr>
          <p:nvPr userDrawn="1"/>
        </p:nvPicPr>
        <p:blipFill>
          <a:blip r:embed="rId14" cstate="email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731" r="100000">
                        <a14:foregroundMark x1="61550" y1="50273" x2="61550" y2="50273"/>
                        <a14:foregroundMark x1="71491" y1="66667" x2="71491" y2="66667"/>
                        <a14:foregroundMark x1="86842" y1="67213" x2="86842" y2="67213"/>
                        <a14:foregroundMark x1="29678" y1="67760" x2="29678" y2="67760"/>
                        <a14:foregroundMark x1="14912" y1="66120" x2="14912" y2="66120"/>
                        <a14:backgroundMark x1="8626" y1="36066" x2="8626" y2="36066"/>
                        <a14:backgroundMark x1="25877" y1="15301" x2="25877" y2="15301"/>
                        <a14:backgroundMark x1="45760" y1="28962" x2="45760" y2="28962"/>
                        <a14:backgroundMark x1="54386" y1="36066" x2="54386" y2="36066"/>
                        <a14:backgroundMark x1="48246" y1="42623" x2="48246" y2="42623"/>
                        <a14:backgroundMark x1="90497" y1="55738" x2="90497" y2="55738"/>
                        <a14:backgroundMark x1="75731" y1="63934" x2="75731" y2="63934"/>
                        <a14:backgroundMark x1="26023" y1="49180" x2="26023" y2="49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7280" y="1241733"/>
            <a:ext cx="2079551" cy="556372"/>
          </a:xfrm>
          <a:prstGeom prst="rect">
            <a:avLst/>
          </a:prstGeom>
        </p:spPr>
      </p:pic>
      <p:sp>
        <p:nvSpPr>
          <p:cNvPr id="103" name="TextBox 102"/>
          <p:cNvSpPr txBox="1"/>
          <p:nvPr userDrawn="1"/>
        </p:nvSpPr>
        <p:spPr>
          <a:xfrm>
            <a:off x="767408" y="4419578"/>
            <a:ext cx="4104456" cy="1241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" name="Picture 1" descr="Screen Shot 2015-06-29 at 11.26.51 pm.png"/>
          <p:cNvPicPr>
            <a:picLocks noChangeAspect="1"/>
          </p:cNvPicPr>
          <p:nvPr userDrawn="1"/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491" b="98645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806" y="1721049"/>
            <a:ext cx="3604227" cy="264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60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k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3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2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hteck 1"/>
          <p:cNvSpPr/>
          <p:nvPr userDrawn="1"/>
        </p:nvSpPr>
        <p:spPr>
          <a:xfrm>
            <a:off x="443372" y="332656"/>
            <a:ext cx="11406704" cy="5616624"/>
          </a:xfrm>
          <a:prstGeom prst="rect">
            <a:avLst/>
          </a:prstGeom>
          <a:solidFill>
            <a:srgbClr val="1D3277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pic>
        <p:nvPicPr>
          <p:cNvPr id="78" name="Bild 4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79" name="Bild 5"/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80" name="Bild 8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81" name="Bild 9"/>
          <p:cNvPicPr>
            <a:picLocks noChangeAspect="1"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82" name="Bild 1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539" y="3497771"/>
            <a:ext cx="2614787" cy="2440468"/>
          </a:xfrm>
          <a:prstGeom prst="rect">
            <a:avLst/>
          </a:prstGeom>
        </p:spPr>
      </p:pic>
      <p:pic>
        <p:nvPicPr>
          <p:cNvPr id="83" name="Bild 17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sp>
        <p:nvSpPr>
          <p:cNvPr id="84" name="Rechteck 31"/>
          <p:cNvSpPr/>
          <p:nvPr userDrawn="1"/>
        </p:nvSpPr>
        <p:spPr>
          <a:xfrm>
            <a:off x="6258538" y="341688"/>
            <a:ext cx="5583649" cy="559970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cxnSp>
        <p:nvCxnSpPr>
          <p:cNvPr id="85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rgbClr val="710B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Bild 4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5800" y="333800"/>
            <a:ext cx="2634264" cy="1478714"/>
          </a:xfrm>
          <a:prstGeom prst="rect">
            <a:avLst/>
          </a:prstGeom>
        </p:spPr>
      </p:pic>
      <p:pic>
        <p:nvPicPr>
          <p:cNvPr id="89" name="Bild 5"/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7067" y="2173376"/>
            <a:ext cx="2946469" cy="2246202"/>
          </a:xfrm>
          <a:prstGeom prst="rect">
            <a:avLst/>
          </a:prstGeom>
        </p:spPr>
      </p:pic>
      <p:pic>
        <p:nvPicPr>
          <p:cNvPr id="90" name="Bild 8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2" y="1832863"/>
            <a:ext cx="2634272" cy="1754627"/>
          </a:xfrm>
          <a:prstGeom prst="rect">
            <a:avLst/>
          </a:prstGeom>
        </p:spPr>
      </p:pic>
      <p:pic>
        <p:nvPicPr>
          <p:cNvPr id="91" name="Bild 9"/>
          <p:cNvPicPr>
            <a:picLocks noChangeAspect="1"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1710" y="4245148"/>
            <a:ext cx="2946651" cy="1704132"/>
          </a:xfrm>
          <a:prstGeom prst="rect">
            <a:avLst/>
          </a:prstGeom>
        </p:spPr>
      </p:pic>
      <p:pic>
        <p:nvPicPr>
          <p:cNvPr id="92" name="Bild 14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0513" y="3497771"/>
            <a:ext cx="2634574" cy="2440468"/>
          </a:xfrm>
          <a:prstGeom prst="rect">
            <a:avLst/>
          </a:prstGeom>
        </p:spPr>
      </p:pic>
      <p:pic>
        <p:nvPicPr>
          <p:cNvPr id="93" name="Bild 17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1214" y="327568"/>
            <a:ext cx="2962322" cy="1826776"/>
          </a:xfrm>
          <a:prstGeom prst="rect">
            <a:avLst/>
          </a:prstGeom>
        </p:spPr>
      </p:pic>
      <p:sp>
        <p:nvSpPr>
          <p:cNvPr id="94" name="Rechteck 31"/>
          <p:cNvSpPr/>
          <p:nvPr userDrawn="1"/>
        </p:nvSpPr>
        <p:spPr>
          <a:xfrm>
            <a:off x="6258538" y="341688"/>
            <a:ext cx="5583649" cy="5599704"/>
          </a:xfrm>
          <a:prstGeom prst="rect">
            <a:avLst/>
          </a:prstGeom>
          <a:noFill/>
          <a:ln w="19050">
            <a:solidFill>
              <a:srgbClr val="1D3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cxnSp>
        <p:nvCxnSpPr>
          <p:cNvPr id="95" name="Gerade Verbindung 33"/>
          <p:cNvCxnSpPr/>
          <p:nvPr userDrawn="1"/>
        </p:nvCxnSpPr>
        <p:spPr>
          <a:xfrm>
            <a:off x="8881214" y="332656"/>
            <a:ext cx="7888" cy="56055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35"/>
          <p:cNvCxnSpPr/>
          <p:nvPr userDrawn="1"/>
        </p:nvCxnSpPr>
        <p:spPr>
          <a:xfrm flipH="1">
            <a:off x="8898976" y="2163225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 Verbindung 38"/>
          <p:cNvCxnSpPr/>
          <p:nvPr userDrawn="1"/>
        </p:nvCxnSpPr>
        <p:spPr>
          <a:xfrm flipH="1">
            <a:off x="8898976" y="4238850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39"/>
          <p:cNvCxnSpPr/>
          <p:nvPr userDrawn="1"/>
        </p:nvCxnSpPr>
        <p:spPr>
          <a:xfrm flipH="1">
            <a:off x="5943788" y="3500898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40"/>
          <p:cNvCxnSpPr/>
          <p:nvPr userDrawn="1"/>
        </p:nvCxnSpPr>
        <p:spPr>
          <a:xfrm flipH="1">
            <a:off x="5951984" y="1821308"/>
            <a:ext cx="29295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 descr="Screen Shot 2015-06-29 at 11.14.38 pm.png"/>
          <p:cNvPicPr>
            <a:picLocks noChangeAspect="1"/>
          </p:cNvPicPr>
          <p:nvPr userDrawn="1"/>
        </p:nvPicPr>
        <p:blipFill>
          <a:blip r:embed="rId14" cstate="email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731" r="100000">
                        <a14:foregroundMark x1="61550" y1="50273" x2="61550" y2="50273"/>
                        <a14:foregroundMark x1="71491" y1="66667" x2="71491" y2="66667"/>
                        <a14:foregroundMark x1="86842" y1="67213" x2="86842" y2="67213"/>
                        <a14:foregroundMark x1="29678" y1="67760" x2="29678" y2="67760"/>
                        <a14:foregroundMark x1="14912" y1="66120" x2="14912" y2="66120"/>
                        <a14:backgroundMark x1="8626" y1="36066" x2="8626" y2="36066"/>
                        <a14:backgroundMark x1="25877" y1="15301" x2="25877" y2="15301"/>
                        <a14:backgroundMark x1="45760" y1="28962" x2="45760" y2="28962"/>
                        <a14:backgroundMark x1="54386" y1="36066" x2="54386" y2="36066"/>
                        <a14:backgroundMark x1="48246" y1="42623" x2="48246" y2="42623"/>
                        <a14:backgroundMark x1="90497" y1="55738" x2="90497" y2="55738"/>
                        <a14:backgroundMark x1="75731" y1="63934" x2="75731" y2="63934"/>
                        <a14:backgroundMark x1="26023" y1="49180" x2="26023" y2="49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0929" y="1241733"/>
            <a:ext cx="2079551" cy="556372"/>
          </a:xfrm>
          <a:prstGeom prst="rect">
            <a:avLst/>
          </a:prstGeom>
        </p:spPr>
      </p:pic>
      <p:sp>
        <p:nvSpPr>
          <p:cNvPr id="103" name="TextBox 102"/>
          <p:cNvSpPr txBox="1"/>
          <p:nvPr userDrawn="1"/>
        </p:nvSpPr>
        <p:spPr>
          <a:xfrm>
            <a:off x="767408" y="4419578"/>
            <a:ext cx="4104456" cy="1241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3" name="Picture 32" descr="Screen Shot 2015-06-29 at 11.28.35 pm.png"/>
          <p:cNvPicPr>
            <a:picLocks noChangeAspect="1"/>
          </p:cNvPicPr>
          <p:nvPr userDrawn="1"/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100000" l="0" r="9970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235" y="1700808"/>
            <a:ext cx="3669617" cy="271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27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k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7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2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hteck 1"/>
          <p:cNvSpPr/>
          <p:nvPr userDrawn="1"/>
        </p:nvSpPr>
        <p:spPr>
          <a:xfrm>
            <a:off x="443372" y="332656"/>
            <a:ext cx="11406704" cy="5616624"/>
          </a:xfrm>
          <a:prstGeom prst="rect">
            <a:avLst/>
          </a:prstGeom>
          <a:solidFill>
            <a:schemeClr val="bg1">
              <a:lumMod val="1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pic>
        <p:nvPicPr>
          <p:cNvPr id="101" name="Picture 100" descr="Macintosh HD:Users:UEducation:Desktop:Screen Shot 2015-06-29 at 12.21.28 pm.png"/>
          <p:cNvPicPr/>
          <p:nvPr userDrawn="1"/>
        </p:nvPicPr>
        <p:blipFill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53" b="96966" l="595" r="9732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3052" y="1731634"/>
            <a:ext cx="3170981" cy="24894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pic>
        <p:nvPicPr>
          <p:cNvPr id="102" name="Picture 101" descr="Screen Shot 2015-06-29 at 11.14.38 pm.png"/>
          <p:cNvPicPr>
            <a:picLocks noChangeAspect="1"/>
          </p:cNvPicPr>
          <p:nvPr userDrawn="1"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731" r="100000">
                        <a14:foregroundMark x1="61550" y1="50273" x2="61550" y2="50273"/>
                        <a14:foregroundMark x1="71491" y1="66667" x2="71491" y2="66667"/>
                        <a14:foregroundMark x1="86842" y1="67213" x2="86842" y2="67213"/>
                        <a14:foregroundMark x1="29678" y1="67760" x2="29678" y2="67760"/>
                        <a14:foregroundMark x1="14912" y1="66120" x2="14912" y2="66120"/>
                        <a14:backgroundMark x1="8626" y1="36066" x2="8626" y2="36066"/>
                        <a14:backgroundMark x1="25877" y1="15301" x2="25877" y2="15301"/>
                        <a14:backgroundMark x1="45760" y1="28962" x2="45760" y2="28962"/>
                        <a14:backgroundMark x1="54386" y1="36066" x2="54386" y2="36066"/>
                        <a14:backgroundMark x1="48246" y1="42623" x2="48246" y2="42623"/>
                        <a14:backgroundMark x1="90497" y1="55738" x2="90497" y2="55738"/>
                        <a14:backgroundMark x1="75731" y1="63934" x2="75731" y2="63934"/>
                        <a14:backgroundMark x1="26023" y1="49180" x2="26023" y2="49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579" y="1276380"/>
            <a:ext cx="1890501" cy="505793"/>
          </a:xfrm>
          <a:prstGeom prst="rect">
            <a:avLst/>
          </a:prstGeom>
        </p:spPr>
      </p:pic>
      <p:sp>
        <p:nvSpPr>
          <p:cNvPr id="103" name="TextBox 102"/>
          <p:cNvSpPr txBox="1"/>
          <p:nvPr userDrawn="1"/>
        </p:nvSpPr>
        <p:spPr>
          <a:xfrm>
            <a:off x="767408" y="4419578"/>
            <a:ext cx="4104456" cy="1241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352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2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k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21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2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hteck 1"/>
          <p:cNvSpPr/>
          <p:nvPr userDrawn="1"/>
        </p:nvSpPr>
        <p:spPr>
          <a:xfrm>
            <a:off x="443372" y="332656"/>
            <a:ext cx="11406704" cy="5616624"/>
          </a:xfrm>
          <a:prstGeom prst="rect">
            <a:avLst/>
          </a:prstGeom>
          <a:solidFill>
            <a:schemeClr val="bg1">
              <a:lumMod val="1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pic>
        <p:nvPicPr>
          <p:cNvPr id="102" name="Picture 101" descr="Screen Shot 2015-06-29 at 11.14.38 pm.png"/>
          <p:cNvPicPr>
            <a:picLocks noChangeAspect="1"/>
          </p:cNvPicPr>
          <p:nvPr userDrawn="1"/>
        </p:nvPicPr>
        <p:blipFill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731" r="100000">
                        <a14:foregroundMark x1="61550" y1="50273" x2="61550" y2="50273"/>
                        <a14:foregroundMark x1="71491" y1="66667" x2="71491" y2="66667"/>
                        <a14:foregroundMark x1="86842" y1="67213" x2="86842" y2="67213"/>
                        <a14:foregroundMark x1="29678" y1="67760" x2="29678" y2="67760"/>
                        <a14:foregroundMark x1="14912" y1="66120" x2="14912" y2="66120"/>
                        <a14:backgroundMark x1="8626" y1="36066" x2="8626" y2="36066"/>
                        <a14:backgroundMark x1="25877" y1="15301" x2="25877" y2="15301"/>
                        <a14:backgroundMark x1="45760" y1="28962" x2="45760" y2="28962"/>
                        <a14:backgroundMark x1="54386" y1="36066" x2="54386" y2="36066"/>
                        <a14:backgroundMark x1="48246" y1="42623" x2="48246" y2="42623"/>
                        <a14:backgroundMark x1="90497" y1="55738" x2="90497" y2="55738"/>
                        <a14:backgroundMark x1="75731" y1="63934" x2="75731" y2="63934"/>
                        <a14:backgroundMark x1="26023" y1="49180" x2="26023" y2="49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1243" y="1241106"/>
            <a:ext cx="1890501" cy="505793"/>
          </a:xfrm>
          <a:prstGeom prst="rect">
            <a:avLst/>
          </a:prstGeom>
        </p:spPr>
      </p:pic>
      <p:sp>
        <p:nvSpPr>
          <p:cNvPr id="103" name="TextBox 102"/>
          <p:cNvSpPr txBox="1"/>
          <p:nvPr userDrawn="1"/>
        </p:nvSpPr>
        <p:spPr>
          <a:xfrm>
            <a:off x="767408" y="4419578"/>
            <a:ext cx="4104456" cy="1241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9" descr="Screen Shot 2015-06-29 at 11.26.51 pm.png"/>
          <p:cNvPicPr>
            <a:picLocks noChangeAspect="1"/>
          </p:cNvPicPr>
          <p:nvPr userDrawn="1"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491" b="98645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806" y="1721049"/>
            <a:ext cx="3604227" cy="264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8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k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5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2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hteck 1"/>
          <p:cNvSpPr/>
          <p:nvPr userDrawn="1"/>
        </p:nvSpPr>
        <p:spPr>
          <a:xfrm>
            <a:off x="443372" y="332656"/>
            <a:ext cx="11406704" cy="5616624"/>
          </a:xfrm>
          <a:prstGeom prst="rect">
            <a:avLst/>
          </a:prstGeom>
          <a:solidFill>
            <a:schemeClr val="bg1">
              <a:lumMod val="1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6F8FC"/>
              </a:solidFill>
            </a:endParaRPr>
          </a:p>
        </p:txBody>
      </p:sp>
      <p:pic>
        <p:nvPicPr>
          <p:cNvPr id="102" name="Picture 101" descr="Screen Shot 2015-06-29 at 11.14.38 pm.png"/>
          <p:cNvPicPr>
            <a:picLocks noChangeAspect="1"/>
          </p:cNvPicPr>
          <p:nvPr userDrawn="1"/>
        </p:nvPicPr>
        <p:blipFill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731" r="100000">
                        <a14:foregroundMark x1="61550" y1="50273" x2="61550" y2="50273"/>
                        <a14:foregroundMark x1="71491" y1="66667" x2="71491" y2="66667"/>
                        <a14:foregroundMark x1="86842" y1="67213" x2="86842" y2="67213"/>
                        <a14:foregroundMark x1="29678" y1="67760" x2="29678" y2="67760"/>
                        <a14:foregroundMark x1="14912" y1="66120" x2="14912" y2="66120"/>
                        <a14:backgroundMark x1="8626" y1="36066" x2="8626" y2="36066"/>
                        <a14:backgroundMark x1="25877" y1="15301" x2="25877" y2="15301"/>
                        <a14:backgroundMark x1="45760" y1="28962" x2="45760" y2="28962"/>
                        <a14:backgroundMark x1="54386" y1="36066" x2="54386" y2="36066"/>
                        <a14:backgroundMark x1="48246" y1="42623" x2="48246" y2="42623"/>
                        <a14:backgroundMark x1="90497" y1="55738" x2="90497" y2="55738"/>
                        <a14:backgroundMark x1="75731" y1="63934" x2="75731" y2="63934"/>
                        <a14:backgroundMark x1="26023" y1="49180" x2="26023" y2="49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1243" y="1241106"/>
            <a:ext cx="1890501" cy="505793"/>
          </a:xfrm>
          <a:prstGeom prst="rect">
            <a:avLst/>
          </a:prstGeom>
        </p:spPr>
      </p:pic>
      <p:sp>
        <p:nvSpPr>
          <p:cNvPr id="103" name="TextBox 102"/>
          <p:cNvSpPr txBox="1"/>
          <p:nvPr userDrawn="1"/>
        </p:nvSpPr>
        <p:spPr>
          <a:xfrm>
            <a:off x="767408" y="4419578"/>
            <a:ext cx="4104456" cy="1241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 descr="Screen Shot 2015-06-29 at 11.28.35 pm.png"/>
          <p:cNvPicPr>
            <a:picLocks noChangeAspect="1"/>
          </p:cNvPicPr>
          <p:nvPr userDrawn="1"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9970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235" y="1700808"/>
            <a:ext cx="3669617" cy="271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64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360" y="188640"/>
            <a:ext cx="11665296" cy="79136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59" y="1484784"/>
            <a:ext cx="11521679" cy="4608041"/>
          </a:xfrm>
        </p:spPr>
        <p:txBody>
          <a:bodyPr/>
          <a:lstStyle/>
          <a:p>
            <a:pPr lvl="0"/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D3277"/>
                </a:solidFill>
              </a:defRPr>
            </a:lvl1pPr>
          </a:lstStyle>
          <a:p>
            <a:fld id="{D96D965D-5A68-6843-9417-52118BF35F5A}" type="datetimeFigureOut">
              <a:rPr lang="en-US" smtClean="0"/>
              <a:pPr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9376" y="6356350"/>
            <a:ext cx="3860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D3277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801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-567765" y="5453529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sz="1400" dirty="0">
              <a:solidFill>
                <a:srgbClr val="1D3277"/>
              </a:solidFill>
            </a:endParaRPr>
          </a:p>
        </p:txBody>
      </p:sp>
      <p:sp>
        <p:nvSpPr>
          <p:cNvPr id="4" name="Textfeld 9"/>
          <p:cNvSpPr txBox="1"/>
          <p:nvPr userDrawn="1"/>
        </p:nvSpPr>
        <p:spPr>
          <a:xfrm>
            <a:off x="-567765" y="5453529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sz="1400" dirty="0">
              <a:solidFill>
                <a:srgbClr val="1D3277"/>
              </a:solidFill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D3277"/>
                </a:solidFill>
              </a:defRPr>
            </a:lvl1pPr>
          </a:lstStyle>
          <a:p>
            <a:fld id="{D96D965D-5A68-6843-9417-52118BF35F5A}" type="datetimeFigureOut">
              <a:rPr lang="en-US" smtClean="0"/>
              <a:pPr/>
              <a:t>5/27/2018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9376" y="6356350"/>
            <a:ext cx="3860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D3277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33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360" y="188640"/>
            <a:ext cx="11665296" cy="79136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59" y="1484784"/>
            <a:ext cx="11521679" cy="4608041"/>
          </a:xfrm>
        </p:spPr>
        <p:txBody>
          <a:bodyPr/>
          <a:lstStyle/>
          <a:p>
            <a:pPr lvl="0"/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D3277"/>
                </a:solidFill>
              </a:defRPr>
            </a:lvl1pPr>
          </a:lstStyle>
          <a:p>
            <a:fld id="{D96D965D-5A68-6843-9417-52118BF35F5A}" type="datetimeFigureOut">
              <a:rPr lang="en-US" smtClean="0"/>
              <a:pPr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9376" y="6356350"/>
            <a:ext cx="3860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D3277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303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sp>
        <p:nvSpPr>
          <p:cNvPr id="10" name="Textfeld 9"/>
          <p:cNvSpPr txBox="1"/>
          <p:nvPr userDrawn="1"/>
        </p:nvSpPr>
        <p:spPr>
          <a:xfrm>
            <a:off x="-567765" y="5453529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sz="1400" dirty="0">
              <a:solidFill>
                <a:srgbClr val="1D327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D3277"/>
                </a:solidFill>
              </a:defRPr>
            </a:lvl1pPr>
          </a:lstStyle>
          <a:p>
            <a:fld id="{D96D965D-5A68-6843-9417-52118BF35F5A}" type="datetimeFigureOut">
              <a:rPr lang="en-US" smtClean="0"/>
              <a:pPr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9376" y="6356350"/>
            <a:ext cx="3860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D3277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1.vml"/><Relationship Id="rId18" Type="http://schemas.openxmlformats.org/officeDocument/2006/relationships/oleObject" Target="../embeddings/oleObject2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.bin"/><Relationship Id="rId20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1C5E2-3187-45A1-AF18-7639A23C1622}" type="datetimeFigureOut">
              <a:rPr lang="en-IN" smtClean="0"/>
              <a:t>27-05-2018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64388-2904-4D36-91DE-DD0612DE5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21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4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6"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8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34963" y="188640"/>
            <a:ext cx="11522075" cy="79136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34963" y="1484784"/>
            <a:ext cx="11522075" cy="4619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de-DE" dirty="0"/>
              <a:t>Click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edit</a:t>
            </a:r>
            <a:endParaRPr lang="de-DE" dirty="0"/>
          </a:p>
        </p:txBody>
      </p:sp>
      <p:cxnSp>
        <p:nvCxnSpPr>
          <p:cNvPr id="11" name="Gerader Verbinder 10"/>
          <p:cNvCxnSpPr/>
          <p:nvPr/>
        </p:nvCxnSpPr>
        <p:spPr>
          <a:xfrm>
            <a:off x="334963" y="6093296"/>
            <a:ext cx="1152207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 userDrawn="1"/>
        </p:nvSpPr>
        <p:spPr>
          <a:xfrm>
            <a:off x="263352" y="6464676"/>
            <a:ext cx="909230" cy="1538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>
              <a:defRPr sz="1000">
                <a:solidFill>
                  <a:srgbClr val="1D3277"/>
                </a:solidFill>
              </a:defRPr>
            </a:lvl1pPr>
          </a:lstStyle>
          <a:p>
            <a:r>
              <a:rPr lang="de-DE" dirty="0"/>
              <a:t>Page </a:t>
            </a:r>
            <a:r>
              <a:rPr lang="de-DE" b="1" dirty="0"/>
              <a:t> </a:t>
            </a:r>
            <a:r>
              <a:rPr lang="de-DE" dirty="0"/>
              <a:t>-</a:t>
            </a:r>
            <a:fld id="{989FD945-C36C-4546-B652-364A4DFE48E4}" type="slidenum">
              <a:rPr lang="de-DE" smtClean="0"/>
              <a:pPr/>
              <a:t>‹#›</a:t>
            </a:fld>
            <a:r>
              <a:rPr lang="de-DE" dirty="0"/>
              <a:t>-</a:t>
            </a:r>
          </a:p>
        </p:txBody>
      </p:sp>
      <p:graphicFrame>
        <p:nvGraphicFramePr>
          <p:cNvPr id="13" name="Objekt 7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7" name="think-cell Slide" r:id="rId18" imgW="270" imgH="270" progId="TCLayout.ActiveDocument.1">
                  <p:embed/>
                </p:oleObj>
              </mc:Choice>
              <mc:Fallback>
                <p:oleObj name="think-cell Slide" r:id="rId18" imgW="270" imgH="270" progId="TCLayout.ActiveDocument.1">
                  <p:embed/>
                  <p:pic>
                    <p:nvPicPr>
                      <p:cNvPr id="13" name="Objek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648" y="6356350"/>
            <a:ext cx="284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D3277"/>
                </a:solidFill>
              </a:defRPr>
            </a:lvl1pPr>
          </a:lstStyle>
          <a:p>
            <a:fld id="{D96D965D-5A68-6843-9417-52118BF35F5A}" type="datetimeFigureOut">
              <a:rPr lang="en-US" smtClean="0"/>
              <a:pPr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1424" y="6356350"/>
            <a:ext cx="3860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D3277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20" name="Picture 19" descr="Macintosh HD:Users:UEducation:Desktop:Screen Shot 2015-06-29 at 12.14.50 pm.png"/>
          <p:cNvPicPr/>
          <p:nvPr userDrawn="1"/>
        </p:nvPicPr>
        <p:blipFill>
          <a:blip r:embed="rId19" cstate="email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22497" y1="52675" x2="22497" y2="52675"/>
                        <a14:foregroundMark x1="27784" y1="61523" x2="27784" y2="61523"/>
                        <a14:foregroundMark x1="56243" y1="57613" x2="56243" y2="57613"/>
                        <a14:foregroundMark x1="65467" y1="58436" x2="65467" y2="58436"/>
                        <a14:foregroundMark x1="77503" y1="58025" x2="77503" y2="580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62179" y="5865285"/>
            <a:ext cx="2229821" cy="121724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cxnSp>
        <p:nvCxnSpPr>
          <p:cNvPr id="21" name="Gerader Verbinder 9"/>
          <p:cNvCxnSpPr/>
          <p:nvPr userDrawn="1"/>
        </p:nvCxnSpPr>
        <p:spPr>
          <a:xfrm>
            <a:off x="334963" y="1124025"/>
            <a:ext cx="1152207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170081" y="1088661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US" sz="1400" dirty="0">
              <a:solidFill>
                <a:srgbClr val="1D32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31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rgbClr val="1D3277"/>
          </a:solidFill>
          <a:latin typeface="+mn-lt"/>
          <a:ea typeface="+mn-ea"/>
          <a:cs typeface="+mn-cs"/>
        </a:defRPr>
      </a:lvl1pPr>
      <a:lvl2pPr marL="355600" indent="-173038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2pPr>
      <a:lvl3pPr marL="538163" indent="-1825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3pPr>
      <a:lvl4pPr marL="720725" indent="-169863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4pPr>
      <a:lvl5pPr marL="892175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rgbClr val="002060"/>
                </a:solidFill>
              </a:rPr>
              <a:t>HR Analytics Case Study</a:t>
            </a:r>
          </a:p>
        </p:txBody>
      </p:sp>
    </p:spTree>
    <p:extLst>
      <p:ext uri="{BB962C8B-B14F-4D97-AF65-F5344CB8AC3E}">
        <p14:creationId xmlns:p14="http://schemas.microsoft.com/office/powerpoint/2010/main" val="148628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feld 91"/>
          <p:cNvSpPr txBox="1"/>
          <p:nvPr/>
        </p:nvSpPr>
        <p:spPr>
          <a:xfrm>
            <a:off x="12105867" y="-18914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D32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itel 1"/>
          <p:cNvSpPr txBox="1">
            <a:spLocks/>
          </p:cNvSpPr>
          <p:nvPr/>
        </p:nvSpPr>
        <p:spPr>
          <a:xfrm>
            <a:off x="334963" y="261367"/>
            <a:ext cx="11522075" cy="79136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3277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Background – HR Analytics Case Study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6677" y="1635934"/>
            <a:ext cx="10257182" cy="38828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IN" dirty="0"/>
              <a:t>A large company named XYZ, employs, at any given point of time, around 4000 employees. However, every year, around 15% of its employees leave the company. Since the attrition level is too high, the management wants to use predictive modelling to bring it down.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Hence, the objectives of the analysis are to: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Help company XYZ identify current employees that are very likely to leave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Recommend ways for company XYZ to decrease its attrition level in the future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The analysis is divided into three parts: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Data Understanding – Source of data, patterns in the data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Predictive modelling of attrition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Recommending ways for company XYZ to decrease its level of attrition</a:t>
            </a:r>
          </a:p>
        </p:txBody>
      </p:sp>
    </p:spTree>
    <p:extLst>
      <p:ext uri="{BB962C8B-B14F-4D97-AF65-F5344CB8AC3E}">
        <p14:creationId xmlns:p14="http://schemas.microsoft.com/office/powerpoint/2010/main" val="103609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Understanding – 4 broad sources of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2365" y="1441224"/>
            <a:ext cx="10257182" cy="25117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The data received for the analysis can be divided into 4 broad categories -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General Data – General data, acquired from HR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 Survey Data – Data collected from yearly employee survey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Manager Survey Data – Data collected from yearly manager survey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Biometric Data – Daily in and out times for each employee, collected using biometric attendance machines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394BD7-80DE-4B21-8FAF-4575F5A27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146643"/>
              </p:ext>
            </p:extLst>
          </p:nvPr>
        </p:nvGraphicFramePr>
        <p:xfrm>
          <a:off x="334963" y="3894911"/>
          <a:ext cx="2560320" cy="1854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123108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0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4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Attrition (Yes/No)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9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68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Education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75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DED529-B40E-4302-8BAD-1AE56AD5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48049"/>
              </p:ext>
            </p:extLst>
          </p:nvPr>
        </p:nvGraphicFramePr>
        <p:xfrm>
          <a:off x="6306073" y="3894911"/>
          <a:ext cx="2562015" cy="14833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62015">
                  <a:extLst>
                    <a:ext uri="{9D8B030D-6E8A-4147-A177-3AD203B41FA5}">
                      <a16:colId xmlns:a16="http://schemas.microsoft.com/office/drawing/2014/main" val="123108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/>
                        <a:t>Employee Survey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0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Environment Satisfaction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4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Satisfaction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9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 Life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683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A53EAC-D2A2-4BF1-A4D9-BE8342381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35049"/>
              </p:ext>
            </p:extLst>
          </p:nvPr>
        </p:nvGraphicFramePr>
        <p:xfrm>
          <a:off x="3320518" y="3894911"/>
          <a:ext cx="2560320" cy="11125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123108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Manager Survey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0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Involvement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4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Performance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939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C14EC3-E9A2-46E8-B86A-269FBE973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18266"/>
              </p:ext>
            </p:extLst>
          </p:nvPr>
        </p:nvGraphicFramePr>
        <p:xfrm>
          <a:off x="9293324" y="3894911"/>
          <a:ext cx="2560320" cy="11125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123108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Biometric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0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4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9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53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– Factors that make employees stay/leave?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963" y="1351722"/>
            <a:ext cx="11280567" cy="4806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466A-88B6-4306-8F58-D68008E57F3B}"/>
              </a:ext>
            </a:extLst>
          </p:cNvPr>
          <p:cNvSpPr txBox="1"/>
          <p:nvPr/>
        </p:nvSpPr>
        <p:spPr>
          <a:xfrm>
            <a:off x="690746" y="1877969"/>
            <a:ext cx="4317354" cy="19794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Age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aged 36 years and above are more likely to stay*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aged 32 years and below are more likely to leave*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Experience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worked for a total of 10 years or more are more likely to stay*</a:t>
            </a:r>
            <a:endParaRPr lang="en-IN" baseline="30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worked for a total of 7 years or less are more likely to leave*</a:t>
            </a:r>
            <a:endParaRPr lang="en-IN" baseline="30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A3695-4AD5-40AE-9195-BB05486BA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100" y="1164824"/>
            <a:ext cx="3094894" cy="47031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0DEF35-907C-43A4-9F59-41043FA87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146" y="1167965"/>
            <a:ext cx="3301994" cy="4700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F271D3-95A3-4B06-ABB6-05F11DFE8CA9}"/>
              </a:ext>
            </a:extLst>
          </p:cNvPr>
          <p:cNvSpPr txBox="1"/>
          <p:nvPr/>
        </p:nvSpPr>
        <p:spPr>
          <a:xfrm>
            <a:off x="334962" y="6100275"/>
            <a:ext cx="9926637" cy="5102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sz="1200" dirty="0"/>
              <a:t>*Coefficients of the variables Age and </a:t>
            </a:r>
            <a:r>
              <a:rPr lang="en-IN" sz="1200" dirty="0" err="1"/>
              <a:t>TotalWorkingYears</a:t>
            </a:r>
            <a:r>
              <a:rPr lang="en-IN" sz="1200" dirty="0"/>
              <a:t> are significant. Among attritions, median age = 32 and median exp. = 7. Among non-attritions, median age = 36 and median exp. = 10</a:t>
            </a:r>
          </a:p>
        </p:txBody>
      </p:sp>
    </p:spTree>
    <p:extLst>
      <p:ext uri="{BB962C8B-B14F-4D97-AF65-F5344CB8AC3E}">
        <p14:creationId xmlns:p14="http://schemas.microsoft.com/office/powerpoint/2010/main" val="422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– Factors that make employees stay/leave?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466A-88B6-4306-8F58-D68008E57F3B}"/>
              </a:ext>
            </a:extLst>
          </p:cNvPr>
          <p:cNvSpPr txBox="1"/>
          <p:nvPr/>
        </p:nvSpPr>
        <p:spPr>
          <a:xfrm>
            <a:off x="690746" y="1678806"/>
            <a:ext cx="4317354" cy="25140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b="1" dirty="0" err="1"/>
              <a:t>YearsAtCompany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those have spent &gt;5 years are more likely to stay*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those are &lt;5 years in this company are more likely to leave*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Years with Current Manager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spent 3 years or more under the same manager are more likely to stay*</a:t>
            </a:r>
            <a:endParaRPr lang="en-IN" baseline="30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spent 2 years or less under the same manager are more likely to leave*</a:t>
            </a:r>
            <a:endParaRPr lang="en-IN" baseline="30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0DEF35-907C-43A4-9F59-41043FA87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86" y="1312659"/>
            <a:ext cx="3093513" cy="47000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B11C07-AFCC-4AC1-9D5B-BC09C0BBD2B0}"/>
              </a:ext>
            </a:extLst>
          </p:cNvPr>
          <p:cNvSpPr/>
          <p:nvPr/>
        </p:nvSpPr>
        <p:spPr>
          <a:xfrm>
            <a:off x="247880" y="6097975"/>
            <a:ext cx="9999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/>
              <a:t>*Coefficients of the variables </a:t>
            </a:r>
            <a:r>
              <a:rPr lang="en-IN" sz="1200" dirty="0" err="1"/>
              <a:t>TrainingTimesLastYear</a:t>
            </a:r>
            <a:r>
              <a:rPr lang="en-IN" sz="1200" dirty="0"/>
              <a:t> and </a:t>
            </a:r>
            <a:r>
              <a:rPr lang="en-IN" sz="1200" dirty="0" err="1"/>
              <a:t>YearsWithCurrManager</a:t>
            </a:r>
            <a:r>
              <a:rPr lang="en-IN" sz="1200" dirty="0"/>
              <a:t> are significant. Rest of the data is based on means/medians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2ED17B-BC89-4901-8ADA-9A6B7B805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484" y="1426362"/>
            <a:ext cx="3436273" cy="447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9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– Factors that make employees stay/leave?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963" y="1351722"/>
            <a:ext cx="11280567" cy="4806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466A-88B6-4306-8F58-D68008E57F3B}"/>
              </a:ext>
            </a:extLst>
          </p:cNvPr>
          <p:cNvSpPr txBox="1"/>
          <p:nvPr/>
        </p:nvSpPr>
        <p:spPr>
          <a:xfrm>
            <a:off x="662608" y="1185653"/>
            <a:ext cx="3616597" cy="15996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Job Satisfaction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medium, high or very high levels of job satisfaction, are more likely to stay*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low levels of job satisfaction, are more likely to leave*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Environment Satisfaction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medium, high or very high levels of environment satisfaction, are more likely to stay*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have low levels of  environment satisfaction, are more likely to leave*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C430D4-307C-4561-ABD8-7CEFFD4E3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205" y="1619951"/>
            <a:ext cx="7577833" cy="39386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573FF0-2591-4F92-A9A4-FA639FA360B8}"/>
              </a:ext>
            </a:extLst>
          </p:cNvPr>
          <p:cNvSpPr/>
          <p:nvPr/>
        </p:nvSpPr>
        <p:spPr>
          <a:xfrm>
            <a:off x="247880" y="6054433"/>
            <a:ext cx="9999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/>
              <a:t>*Coefficients of the variables </a:t>
            </a:r>
            <a:r>
              <a:rPr lang="en-IN" sz="1200" dirty="0" err="1"/>
              <a:t>JobSatisfaction</a:t>
            </a:r>
            <a:r>
              <a:rPr lang="en-IN" sz="1200" dirty="0"/>
              <a:t> and </a:t>
            </a:r>
            <a:r>
              <a:rPr lang="en-IN" sz="1200" dirty="0" err="1"/>
              <a:t>EnvironmentSatisfaction</a:t>
            </a:r>
            <a:r>
              <a:rPr lang="en-IN" sz="1200" dirty="0"/>
              <a:t> are significant. Employees were asked to report their job satisfaction and work environment satisfaction levels in a survey.</a:t>
            </a:r>
          </a:p>
        </p:txBody>
      </p:sp>
    </p:spTree>
    <p:extLst>
      <p:ext uri="{BB962C8B-B14F-4D97-AF65-F5344CB8AC3E}">
        <p14:creationId xmlns:p14="http://schemas.microsoft.com/office/powerpoint/2010/main" val="282566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– Factors that make employees stay/leave?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963" y="1351722"/>
            <a:ext cx="11280567" cy="4806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466A-88B6-4306-8F58-D68008E57F3B}"/>
              </a:ext>
            </a:extLst>
          </p:cNvPr>
          <p:cNvSpPr txBox="1"/>
          <p:nvPr/>
        </p:nvSpPr>
        <p:spPr>
          <a:xfrm>
            <a:off x="662608" y="1296676"/>
            <a:ext cx="3461849" cy="47702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Average Work Hours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that, on average work for 7.3 hours or less, are more likely to stay*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that, on average work for 8.2 hours or more, are more likely to leave*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Work Life Balance</a:t>
            </a: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rated their work life balance as good, better or best, are more likely to stay**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that rated their work life balance as bad, are more likely to leave**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C430D4-307C-4561-ABD8-7CEFFD4E3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457" y="1633075"/>
            <a:ext cx="3804623" cy="39377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BDFA1B-FA50-48C8-BD2A-33CAD0AF5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389" y="1621370"/>
            <a:ext cx="3760649" cy="39497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0769D5-0141-4D07-A075-4F3BA2B43C62}"/>
              </a:ext>
            </a:extLst>
          </p:cNvPr>
          <p:cNvSpPr/>
          <p:nvPr/>
        </p:nvSpPr>
        <p:spPr>
          <a:xfrm>
            <a:off x="247880" y="6054433"/>
            <a:ext cx="9999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/>
              <a:t>*Coefficients of the variables </a:t>
            </a:r>
            <a:r>
              <a:rPr lang="en-IN" sz="1200" dirty="0" err="1"/>
              <a:t>AverageWorkTime</a:t>
            </a:r>
            <a:r>
              <a:rPr lang="en-IN" sz="1200" dirty="0"/>
              <a:t> and </a:t>
            </a:r>
            <a:r>
              <a:rPr lang="en-IN" sz="1200" dirty="0" err="1"/>
              <a:t>WorkLIfeBalance</a:t>
            </a:r>
            <a:r>
              <a:rPr lang="en-IN" sz="1200" dirty="0"/>
              <a:t> are significant. Average work hours data is based on means/medians etc. Employees were asked to report their level of work life balance in a survey.</a:t>
            </a:r>
          </a:p>
        </p:txBody>
      </p:sp>
    </p:spTree>
    <p:extLst>
      <p:ext uri="{BB962C8B-B14F-4D97-AF65-F5344CB8AC3E}">
        <p14:creationId xmlns:p14="http://schemas.microsoft.com/office/powerpoint/2010/main" val="19972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– Factors that surprisingly don’t affect attrition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963" y="1351722"/>
            <a:ext cx="11280567" cy="4806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466A-88B6-4306-8F58-D68008E57F3B}"/>
              </a:ext>
            </a:extLst>
          </p:cNvPr>
          <p:cNvSpPr txBox="1"/>
          <p:nvPr/>
        </p:nvSpPr>
        <p:spPr>
          <a:xfrm>
            <a:off x="675169" y="3256848"/>
            <a:ext cx="3616597" cy="678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Monthly Income and Percent Salary Hike do not affect attrition*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C430D4-307C-4561-ABD8-7CEFFD4E3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27" y="1273698"/>
            <a:ext cx="6033013" cy="4673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EE958D-A0CB-4030-8C59-6A9BBA3F0376}"/>
              </a:ext>
            </a:extLst>
          </p:cNvPr>
          <p:cNvSpPr txBox="1"/>
          <p:nvPr/>
        </p:nvSpPr>
        <p:spPr>
          <a:xfrm>
            <a:off x="334963" y="6172851"/>
            <a:ext cx="8375374" cy="5102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sz="1400" dirty="0"/>
              <a:t>*Coefficients of these variables are not significant</a:t>
            </a:r>
          </a:p>
        </p:txBody>
      </p:sp>
    </p:spTree>
    <p:extLst>
      <p:ext uri="{BB962C8B-B14F-4D97-AF65-F5344CB8AC3E}">
        <p14:creationId xmlns:p14="http://schemas.microsoft.com/office/powerpoint/2010/main" val="166285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– Factors that affects attrition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963" y="1351722"/>
            <a:ext cx="11280567" cy="4806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466A-88B6-4306-8F58-D68008E57F3B}"/>
              </a:ext>
            </a:extLst>
          </p:cNvPr>
          <p:cNvSpPr txBox="1"/>
          <p:nvPr/>
        </p:nvSpPr>
        <p:spPr>
          <a:xfrm>
            <a:off x="0" y="1325480"/>
            <a:ext cx="3034748" cy="44622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taking frequent Business travels are likely to leave*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Singles/Bachelors are likely to leave*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E958D-A0CB-4030-8C59-6A9BBA3F0376}"/>
              </a:ext>
            </a:extLst>
          </p:cNvPr>
          <p:cNvSpPr txBox="1"/>
          <p:nvPr/>
        </p:nvSpPr>
        <p:spPr>
          <a:xfrm>
            <a:off x="334963" y="6172851"/>
            <a:ext cx="8375374" cy="5102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sz="1400" dirty="0"/>
              <a:t>*Coefficients of these variables are not significant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FF208-4BC4-45B3-8EC4-B1CBADE5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92" y="1191867"/>
            <a:ext cx="4350818" cy="4595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612CAA-023E-4CE0-9375-D65E13C1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985" y="1365151"/>
            <a:ext cx="4403520" cy="459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6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14C0-16D3-4D4B-9FE2-977751DC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testing plots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02FBD8-0B83-4538-A81A-6ACA8AFD4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061" y="1219200"/>
            <a:ext cx="8772939" cy="477542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809B5F-B981-452F-BCEB-3B5E0FE6C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808464"/>
              </p:ext>
            </p:extLst>
          </p:nvPr>
        </p:nvGraphicFramePr>
        <p:xfrm>
          <a:off x="467485" y="5082899"/>
          <a:ext cx="3149600" cy="7620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4759827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296677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6085178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860878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test_cutoff_turnover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357441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test_actual_turnover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4060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38243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225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326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E049-D60A-4544-8039-623005E8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 and Gain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941AA-EE01-437C-B94C-04FE8248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59" y="1383816"/>
            <a:ext cx="5160782" cy="3797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EC70C-D00F-4DDE-8746-C66C83C6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170" y="1383816"/>
            <a:ext cx="6207868" cy="4061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E1FFE5-A288-44F2-BBF7-E1C97C9E44D9}"/>
              </a:ext>
            </a:extLst>
          </p:cNvPr>
          <p:cNvSpPr txBox="1"/>
          <p:nvPr/>
        </p:nvSpPr>
        <p:spPr>
          <a:xfrm>
            <a:off x="767934" y="5445544"/>
            <a:ext cx="10973492" cy="678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By addressing top 40 % of employees predicted by this model, we can target 81% turnover candidates. </a:t>
            </a:r>
          </a:p>
        </p:txBody>
      </p:sp>
    </p:spTree>
    <p:extLst>
      <p:ext uri="{BB962C8B-B14F-4D97-AF65-F5344CB8AC3E}">
        <p14:creationId xmlns:p14="http://schemas.microsoft.com/office/powerpoint/2010/main" val="44886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963" y="1147155"/>
            <a:ext cx="10257182" cy="48030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Current employees: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Work life balance should be improved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Work environment should be improved. HR s can arrange for fun events involving family visits. Organise games, competitions, trips.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The manager of an employee should not be changed very often</a:t>
            </a:r>
            <a:endParaRPr lang="en-IN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Employees should be provided relevant training regularly, especially for its younger/singles employees and should be engaged in R&amp;D works for their relevant departments and must be awarded.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Work load should be reduced by properly managing the work among the employees. Few employees seems to stretch their work hours over the entire year.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Give timely promotion or introduce Bonus. </a:t>
            </a:r>
          </a:p>
          <a:p>
            <a:pPr>
              <a:spcBef>
                <a:spcPts val="600"/>
              </a:spcBef>
            </a:pPr>
            <a:r>
              <a:rPr lang="en-IN" b="1" dirty="0"/>
              <a:t>Future employees (changes in hiring process):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The company should follow either one of the strategies given below –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Hire older people with decent work experience.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Avoid Hiring candidates who seem to switch too frequently.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It could also opt for a combination of the two</a:t>
            </a:r>
          </a:p>
        </p:txBody>
      </p:sp>
    </p:spTree>
    <p:extLst>
      <p:ext uri="{BB962C8B-B14F-4D97-AF65-F5344CB8AC3E}">
        <p14:creationId xmlns:p14="http://schemas.microsoft.com/office/powerpoint/2010/main" val="523708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Theme">
  <a:themeElements>
    <a:clrScheme name="UpGrad 2">
      <a:dk1>
        <a:srgbClr val="1D3277"/>
      </a:dk1>
      <a:lt1>
        <a:srgbClr val="F6F8FC"/>
      </a:lt1>
      <a:dk2>
        <a:srgbClr val="404041"/>
      </a:dk2>
      <a:lt2>
        <a:srgbClr val="FFFFFF"/>
      </a:lt2>
      <a:accent1>
        <a:srgbClr val="FFFAF6"/>
      </a:accent1>
      <a:accent2>
        <a:srgbClr val="EF403D"/>
      </a:accent2>
      <a:accent3>
        <a:srgbClr val="808284"/>
      </a:accent3>
      <a:accent4>
        <a:srgbClr val="FAA726"/>
      </a:accent4>
      <a:accent5>
        <a:srgbClr val="5C9F38"/>
      </a:accent5>
      <a:accent6>
        <a:srgbClr val="670B03"/>
      </a:accent6>
      <a:hlink>
        <a:srgbClr val="0B1953"/>
      </a:hlink>
      <a:folHlink>
        <a:srgbClr val="002D6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noAutofit/>
      </a:bodyPr>
      <a:lstStyle>
        <a:defPPr>
          <a:spcBef>
            <a:spcPts val="600"/>
          </a:spcBef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rtelsmann_PPT_Master_2014_16zu9_Entwurf_angepasst.pptx" id="{88DDA2CA-EC14-4BAE-83E5-03BB985E7EB5}" vid="{5EF44A50-BD4C-4C4D-8F14-7D7BCA8148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831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Office Theme</vt:lpstr>
      <vt:lpstr>1_Default Theme</vt:lpstr>
      <vt:lpstr>think-cell Slide</vt:lpstr>
      <vt:lpstr>HR Analytics Case Study</vt:lpstr>
      <vt:lpstr>PowerPoint Presentation</vt:lpstr>
      <vt:lpstr>Data Understanding – 4 broad sources of data</vt:lpstr>
      <vt:lpstr>Recommendations – Factors that make employees stay/leave? </vt:lpstr>
      <vt:lpstr>Recommendations – Factors that make employees stay/leave? </vt:lpstr>
      <vt:lpstr>Recommendations – Factors that make employees stay/leave? </vt:lpstr>
      <vt:lpstr>Recommendations – Factors that make employees stay/leave? </vt:lpstr>
      <vt:lpstr>Recommendations – Factors that surprisingly don’t affect attrition</vt:lpstr>
      <vt:lpstr>Recommendations – Factors that affects attrition</vt:lpstr>
      <vt:lpstr>Model testing plots</vt:lpstr>
      <vt:lpstr>Lift and Gain Chart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Kshitij</dc:creator>
  <cp:lastModifiedBy>Snehashish</cp:lastModifiedBy>
  <cp:revision>554</cp:revision>
  <dcterms:created xsi:type="dcterms:W3CDTF">2017-06-02T07:28:24Z</dcterms:created>
  <dcterms:modified xsi:type="dcterms:W3CDTF">2018-05-27T12:54:25Z</dcterms:modified>
</cp:coreProperties>
</file>